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80" r:id="rId6"/>
    <p:sldId id="262" r:id="rId7"/>
    <p:sldId id="263" r:id="rId8"/>
    <p:sldId id="264" r:id="rId9"/>
    <p:sldId id="265" r:id="rId10"/>
    <p:sldId id="290" r:id="rId11"/>
  </p:sldIdLst>
  <p:sldSz cx="9144000" cy="5143500" type="screen16x9"/>
  <p:notesSz cx="6858000" cy="9144000"/>
  <p:embeddedFontLst>
    <p:embeddedFont>
      <p:font typeface="Albert Sans" panose="020B0604020202020204" charset="0"/>
      <p:regular r:id="rId13"/>
      <p:bold r:id="rId14"/>
      <p:italic r:id="rId15"/>
      <p:boldItalic r:id="rId16"/>
    </p:embeddedFont>
    <p:embeddedFont>
      <p:font typeface="Alexandria Medium" panose="020B0604020202020204" charset="-78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9AEE83-FCB2-4646-8F39-7AAEE9EC5B06}">
  <a:tblStyle styleId="{3B9AEE83-FCB2-4646-8F39-7AAEE9EC5B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712A6E-0CB6-4D82-942F-36C87893612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58abb5f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58abb5f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685abcf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685abcf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572bee519d_0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572bee519d_0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58abb5f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58abb5f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703cb3a7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5703cb3a7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572bee519d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572bee519d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572bee519d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572bee519d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-19689" t="41478" r="19690" b="227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l="174697" t="-83399" r="177064" b="41635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15100" y="1636300"/>
            <a:ext cx="3856800" cy="189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>
            <a:spLocks noGrp="1"/>
          </p:cNvSpPr>
          <p:nvPr>
            <p:ph type="pic" idx="2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l="7043" t="47434" r="-48486" b="-26994"/>
          <a:stretch/>
        </p:blipFill>
        <p:spPr>
          <a:xfrm rot="10800000" flipH="1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15454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15454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1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9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lang="en" sz="9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900"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  <p:transition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blinds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5" r:id="rId5"/>
    <p:sldLayoutId id="2147483658" r:id="rId6"/>
    <p:sldLayoutId id="2147483659" r:id="rId7"/>
    <p:sldLayoutId id="2147483664" r:id="rId8"/>
    <p:sldLayoutId id="2147483665" r:id="rId9"/>
    <p:sldLayoutId id="2147483672" r:id="rId10"/>
    <p:sldLayoutId id="2147483675" r:id="rId11"/>
    <p:sldLayoutId id="2147483676" r:id="rId12"/>
    <p:sldLayoutId id="2147483677" r:id="rId13"/>
  </p:sldLayoutIdLst>
  <p:transition>
    <p:blinds dir="vert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fr.statista.com/statistiques/531440/equipement-tablette-france/#:~:text=Cette%20statistique%20montre%20la%20proportion,la%20pand%C3%A9mie%20du%20COVID%2D19" TargetMode="Externa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eedly.com/i/discover/sources/search/feed/ipad%20new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ctrTitle"/>
          </p:nvPr>
        </p:nvSpPr>
        <p:spPr>
          <a:xfrm>
            <a:off x="715100" y="1963653"/>
            <a:ext cx="7544237" cy="21023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Les tablettes</a:t>
            </a:r>
            <a:br>
              <a:rPr lang="en" sz="6000" dirty="0"/>
            </a:br>
            <a:r>
              <a:rPr lang="en" sz="6000" dirty="0"/>
              <a:t>de dessin numériques </a:t>
            </a:r>
            <a:endParaRPr sz="6000" dirty="0"/>
          </a:p>
        </p:txBody>
      </p:sp>
      <p:sp>
        <p:nvSpPr>
          <p:cNvPr id="191" name="Google Shape;191;p35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 veille technologique – KOCAK Betül </a:t>
            </a:r>
            <a:endParaRPr b="1" dirty="0"/>
          </a:p>
        </p:txBody>
      </p:sp>
      <p:cxnSp>
        <p:nvCxnSpPr>
          <p:cNvPr id="192" name="Google Shape;192;p35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445850" y="1200347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787769" y="1473413"/>
            <a:ext cx="3907062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Introduction</a:t>
            </a:r>
            <a:r>
              <a:rPr lang="fr-FR" dirty="0"/>
              <a:t> : Les tablettes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 dessin numérique et l’iPad</a:t>
            </a:r>
            <a:endParaRPr dirty="0"/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348111" y="274902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719058" y="2183615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1157933" y="2441348"/>
            <a:ext cx="26073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L’essor des tablettes de dessin numérique</a:t>
            </a:r>
            <a:endParaRPr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1085038" y="3164766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1438329" y="3382338"/>
            <a:ext cx="3005156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technologies sous-jacentes des tablettes</a:t>
            </a:r>
            <a:endParaRPr dirty="0"/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 idx="7"/>
          </p:nvPr>
        </p:nvSpPr>
        <p:spPr>
          <a:xfrm>
            <a:off x="4459937" y="1589281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9"/>
          </p:nvPr>
        </p:nvSpPr>
        <p:spPr>
          <a:xfrm>
            <a:off x="4745214" y="2437720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8" name="Google Shape;218;p37"/>
          <p:cNvSpPr txBox="1">
            <a:spLocks noGrp="1"/>
          </p:cNvSpPr>
          <p:nvPr>
            <p:ph type="subTitle" idx="15"/>
          </p:nvPr>
        </p:nvSpPr>
        <p:spPr>
          <a:xfrm>
            <a:off x="5233446" y="2646138"/>
            <a:ext cx="3318335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Impact sur le marché et l’innovation</a:t>
            </a:r>
            <a:endParaRPr dirty="0"/>
          </a:p>
        </p:txBody>
      </p:sp>
      <p:sp>
        <p:nvSpPr>
          <p:cNvPr id="219" name="Google Shape;219;p37"/>
          <p:cNvSpPr txBox="1">
            <a:spLocks noGrp="1"/>
          </p:cNvSpPr>
          <p:nvPr>
            <p:ph type="title" idx="16"/>
          </p:nvPr>
        </p:nvSpPr>
        <p:spPr>
          <a:xfrm>
            <a:off x="4988577" y="3214869"/>
            <a:ext cx="538500" cy="73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20" name="Google Shape;220;p37"/>
          <p:cNvSpPr txBox="1">
            <a:spLocks noGrp="1"/>
          </p:cNvSpPr>
          <p:nvPr>
            <p:ph type="subTitle" idx="17"/>
          </p:nvPr>
        </p:nvSpPr>
        <p:spPr>
          <a:xfrm>
            <a:off x="5510680" y="3441735"/>
            <a:ext cx="3782128" cy="12341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/>
              <a:t>Conclusion</a:t>
            </a:r>
            <a:r>
              <a:rPr lang="fr-FR" dirty="0"/>
              <a:t> : l’informatique,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développement et l’utilisation des tablettes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 dessin</a:t>
            </a:r>
            <a:endParaRPr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30CFD6-86EE-427F-3831-7A5227B42810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4648484" y="1815515"/>
            <a:ext cx="3521934" cy="736200"/>
          </a:xfrm>
        </p:spPr>
        <p:txBody>
          <a:bodyPr/>
          <a:lstStyle/>
          <a:p>
            <a:r>
              <a:rPr lang="fr-FR" dirty="0"/>
              <a:t>Le développement des</a:t>
            </a:r>
          </a:p>
          <a:p>
            <a:r>
              <a:rPr lang="fr-FR" dirty="0"/>
              <a:t>applications de dessin</a:t>
            </a:r>
            <a:endParaRPr lang="tr-TR" dirty="0"/>
          </a:p>
        </p:txBody>
      </p:sp>
    </p:spTree>
  </p:cSld>
  <p:clrMapOvr>
    <a:masterClrMapping/>
  </p:clrMapOvr>
  <p:transition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328524" y="33279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35" name="Google Shape;235;p39"/>
          <p:cNvSpPr txBox="1">
            <a:spLocks noGrp="1"/>
          </p:cNvSpPr>
          <p:nvPr>
            <p:ph type="title" idx="2"/>
          </p:nvPr>
        </p:nvSpPr>
        <p:spPr>
          <a:xfrm>
            <a:off x="395431" y="2356748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Sous-titre 2">
            <a:extLst>
              <a:ext uri="{FF2B5EF4-FFF2-40B4-BE49-F238E27FC236}">
                <a16:creationId xmlns:a16="http://schemas.microsoft.com/office/drawing/2014/main" id="{B89C4356-5F59-AF6D-BC00-333E96906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6985" y="-388200"/>
            <a:ext cx="3856800" cy="388200"/>
          </a:xfrm>
        </p:spPr>
        <p:txBody>
          <a:bodyPr/>
          <a:lstStyle/>
          <a:p>
            <a:endParaRPr lang="tr-TR" dirty="0"/>
          </a:p>
        </p:txBody>
      </p:sp>
      <p:pic>
        <p:nvPicPr>
          <p:cNvPr id="1026" name="Picture 2" descr="Image d’Épingle Story">
            <a:extLst>
              <a:ext uri="{FF2B5EF4-FFF2-40B4-BE49-F238E27FC236}">
                <a16:creationId xmlns:a16="http://schemas.microsoft.com/office/drawing/2014/main" id="{3BAB36D9-4D12-A2DA-E538-2C3F89E3D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20" y="106329"/>
            <a:ext cx="2774359" cy="493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>
            <a:spLocks noGrp="1"/>
          </p:cNvSpPr>
          <p:nvPr>
            <p:ph type="title"/>
          </p:nvPr>
        </p:nvSpPr>
        <p:spPr>
          <a:xfrm>
            <a:off x="423747" y="416312"/>
            <a:ext cx="10006361" cy="13096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dirty="0"/>
              <a:t>Tablettes numériques : </a:t>
            </a:r>
            <a:br>
              <a:rPr lang="fr-FR" sz="2400" b="1" dirty="0"/>
            </a:br>
            <a:r>
              <a:rPr lang="fr-FR" sz="2400" b="1" dirty="0"/>
              <a:t>Focus sur les iPads et </a:t>
            </a:r>
            <a:br>
              <a:rPr lang="fr-FR" sz="2400" b="1" dirty="0"/>
            </a:br>
            <a:r>
              <a:rPr lang="fr-FR" sz="2400" b="1" dirty="0"/>
              <a:t>leur évolution technologique</a:t>
            </a:r>
            <a:br>
              <a:rPr lang="fr-FR" sz="4800" dirty="0"/>
            </a:br>
            <a:r>
              <a:rPr lang="fr-FR" sz="4800" dirty="0"/>
              <a:t> </a:t>
            </a:r>
            <a:endParaRPr sz="4800" dirty="0"/>
          </a:p>
        </p:txBody>
      </p:sp>
      <p:sp>
        <p:nvSpPr>
          <p:cNvPr id="243" name="Google Shape;243;p40"/>
          <p:cNvSpPr txBox="1">
            <a:spLocks noGrp="1"/>
          </p:cNvSpPr>
          <p:nvPr>
            <p:ph type="subTitle" idx="1"/>
          </p:nvPr>
        </p:nvSpPr>
        <p:spPr>
          <a:xfrm>
            <a:off x="3936667" y="2011315"/>
            <a:ext cx="4940960" cy="125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Aujourd'hui, je vais vous parler des </a:t>
            </a:r>
            <a:r>
              <a:rPr lang="fr-FR" b="1" dirty="0"/>
              <a:t>tablettes numériques</a:t>
            </a:r>
            <a:r>
              <a:rPr lang="fr-FR" dirty="0"/>
              <a:t>, plus spécifiquement des </a:t>
            </a:r>
            <a:r>
              <a:rPr lang="fr-FR" b="1" dirty="0"/>
              <a:t>iPads</a:t>
            </a:r>
            <a:r>
              <a:rPr lang="fr-FR" dirty="0"/>
              <a:t>, et de leur utilisation dans le domaine du </a:t>
            </a:r>
            <a:r>
              <a:rPr lang="fr-FR" b="1" dirty="0"/>
              <a:t>dessin numérique</a:t>
            </a:r>
            <a:r>
              <a:rPr lang="fr-FR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Cependant, plutôt que de me concentrer uniquement sur leur utilisation grand public, j’aimerais explorer les </a:t>
            </a:r>
            <a:r>
              <a:rPr lang="fr-FR" b="1" dirty="0"/>
              <a:t>technologies sous-jacentes</a:t>
            </a:r>
            <a:r>
              <a:rPr lang="fr-FR" dirty="0"/>
              <a:t> à ces appareils, en particulier du point de vue du </a:t>
            </a:r>
            <a:r>
              <a:rPr lang="fr-FR" b="1" dirty="0"/>
              <a:t>développement informatique</a:t>
            </a:r>
            <a:r>
              <a:rPr lang="fr-FR" dirty="0"/>
              <a:t>. C’est un sujet qui allie </a:t>
            </a:r>
            <a:r>
              <a:rPr lang="fr-FR" b="1" dirty="0"/>
              <a:t>informatique</a:t>
            </a:r>
            <a:r>
              <a:rPr lang="fr-FR" dirty="0"/>
              <a:t> et </a:t>
            </a:r>
            <a:r>
              <a:rPr lang="fr-FR" b="1" dirty="0"/>
              <a:t>créativité</a:t>
            </a:r>
            <a:r>
              <a:rPr lang="fr-FR" dirty="0"/>
              <a:t>, avec des défis technologiques intéressants à relever.</a:t>
            </a:r>
            <a:endParaRPr dirty="0"/>
          </a:p>
        </p:txBody>
      </p:sp>
      <p:cxnSp>
        <p:nvCxnSpPr>
          <p:cNvPr id="244" name="Google Shape;244;p40">
            <a:hlinkClick r:id="" action="ppaction://hlinkshowjump?jump=nextslide"/>
          </p:cNvPr>
          <p:cNvCxnSpPr/>
          <p:nvPr/>
        </p:nvCxnSpPr>
        <p:spPr>
          <a:xfrm>
            <a:off x="715100" y="44144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D0EE50-34B6-9276-4F38-6EED7C217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44" y="1841800"/>
            <a:ext cx="2578697" cy="283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59"/>
          <p:cNvGrpSpPr/>
          <p:nvPr/>
        </p:nvGrpSpPr>
        <p:grpSpPr>
          <a:xfrm>
            <a:off x="5783275" y="884101"/>
            <a:ext cx="2431457" cy="3375303"/>
            <a:chOff x="5186401" y="494525"/>
            <a:chExt cx="1834973" cy="3724678"/>
          </a:xfrm>
        </p:grpSpPr>
        <p:sp>
          <p:nvSpPr>
            <p:cNvPr id="486" name="Google Shape;486;p59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9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88" name="Google Shape;488;p59"/>
          <p:cNvPicPr preferRelativeResize="0"/>
          <p:nvPr/>
        </p:nvPicPr>
        <p:blipFill>
          <a:blip r:embed="rId3"/>
          <a:srcRect l="55164" t="2583" r="-1068" b="-2583"/>
          <a:stretch/>
        </p:blipFill>
        <p:spPr>
          <a:xfrm>
            <a:off x="5898750" y="1116251"/>
            <a:ext cx="2200506" cy="2831124"/>
          </a:xfrm>
          <a:prstGeom prst="rect">
            <a:avLst/>
          </a:prstGeom>
        </p:spPr>
      </p:pic>
      <p:sp>
        <p:nvSpPr>
          <p:cNvPr id="489" name="Google Shape;489;p59"/>
          <p:cNvSpPr txBox="1">
            <a:spLocks noGrp="1"/>
          </p:cNvSpPr>
          <p:nvPr>
            <p:ph type="title"/>
          </p:nvPr>
        </p:nvSpPr>
        <p:spPr>
          <a:xfrm>
            <a:off x="385745" y="693174"/>
            <a:ext cx="37044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/>
              <a:t>Les</a:t>
            </a:r>
            <a:r>
              <a:rPr lang="tr-TR" b="1" dirty="0"/>
              <a:t> </a:t>
            </a:r>
            <a:r>
              <a:rPr lang="tr-TR" b="1" dirty="0" err="1"/>
              <a:t>tablettes</a:t>
            </a:r>
            <a:r>
              <a:rPr lang="tr-TR" b="1" dirty="0"/>
              <a:t> de </a:t>
            </a:r>
            <a:r>
              <a:rPr lang="tr-TR" b="1" dirty="0" err="1"/>
              <a:t>dessin</a:t>
            </a:r>
            <a:r>
              <a:rPr lang="tr-TR" dirty="0"/>
              <a:t> </a:t>
            </a:r>
          </a:p>
        </p:txBody>
      </p:sp>
      <p:sp>
        <p:nvSpPr>
          <p:cNvPr id="490" name="Google Shape;490;p59"/>
          <p:cNvSpPr txBox="1">
            <a:spLocks noGrp="1"/>
          </p:cNvSpPr>
          <p:nvPr>
            <p:ph type="body" idx="1"/>
          </p:nvPr>
        </p:nvSpPr>
        <p:spPr>
          <a:xfrm>
            <a:off x="516919" y="1831196"/>
            <a:ext cx="3704400" cy="1821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Les tablettes de dessin, comme les </a:t>
            </a:r>
            <a:r>
              <a:rPr lang="fr-FR" sz="1400" b="1" dirty="0"/>
              <a:t>iPads</a:t>
            </a:r>
            <a:r>
              <a:rPr lang="fr-FR" sz="1400" dirty="0"/>
              <a:t>, ont connu un véritable essor ces dernières années. Ces appareils offrent une </a:t>
            </a:r>
            <a:r>
              <a:rPr lang="fr-FR" sz="1400" b="1" dirty="0"/>
              <a:t>portabilité</a:t>
            </a:r>
            <a:r>
              <a:rPr lang="fr-FR" sz="1400" dirty="0"/>
              <a:t>, une </a:t>
            </a:r>
            <a:r>
              <a:rPr lang="fr-FR" sz="1400" b="1" dirty="0"/>
              <a:t>précision</a:t>
            </a:r>
            <a:r>
              <a:rPr lang="fr-FR" sz="1400" dirty="0"/>
              <a:t> et des </a:t>
            </a:r>
            <a:r>
              <a:rPr lang="fr-FR" sz="1400" b="1" dirty="0"/>
              <a:t>performances</a:t>
            </a:r>
            <a:r>
              <a:rPr lang="fr-FR" sz="1400" dirty="0"/>
              <a:t> qui les rendent idéales pour les artistes numériques.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Mais derrière cette expérience fluide se cachent des technologies avancées. </a:t>
            </a:r>
            <a:endParaRPr sz="1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175494-747C-6ABB-101C-38464EA3DF18}"/>
              </a:ext>
            </a:extLst>
          </p:cNvPr>
          <p:cNvSpPr txBox="1"/>
          <p:nvPr/>
        </p:nvSpPr>
        <p:spPr>
          <a:xfrm>
            <a:off x="443484" y="1183344"/>
            <a:ext cx="3704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i="1" dirty="0"/>
              <a:t>iPad, Samsung Galaxy Tab, </a:t>
            </a:r>
            <a:r>
              <a:rPr lang="tr-TR" i="1" dirty="0" err="1"/>
              <a:t>Surface</a:t>
            </a:r>
            <a:r>
              <a:rPr lang="tr-TR" i="1" dirty="0"/>
              <a:t> Pro</a:t>
            </a:r>
          </a:p>
        </p:txBody>
      </p:sp>
      <p:cxnSp>
        <p:nvCxnSpPr>
          <p:cNvPr id="5" name="Connecteur : en arc 4">
            <a:extLst>
              <a:ext uri="{FF2B5EF4-FFF2-40B4-BE49-F238E27FC236}">
                <a16:creationId xmlns:a16="http://schemas.microsoft.com/office/drawing/2014/main" id="{BAEFBB72-DDE8-80A7-5381-26D092D4325A}"/>
              </a:ext>
            </a:extLst>
          </p:cNvPr>
          <p:cNvCxnSpPr>
            <a:cxnSpLocks/>
          </p:cNvCxnSpPr>
          <p:nvPr/>
        </p:nvCxnSpPr>
        <p:spPr>
          <a:xfrm>
            <a:off x="5290885" y="922663"/>
            <a:ext cx="365593" cy="89722"/>
          </a:xfrm>
          <a:prstGeom prst="curvedConnector3">
            <a:avLst>
              <a:gd name="adj1" fmla="val -35405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2649AB0B-D759-6C8C-F9D3-A2B3A4D953CA}"/>
              </a:ext>
            </a:extLst>
          </p:cNvPr>
          <p:cNvSpPr txBox="1"/>
          <p:nvPr/>
        </p:nvSpPr>
        <p:spPr>
          <a:xfrm rot="21193510">
            <a:off x="4577933" y="631804"/>
            <a:ext cx="2200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chemeClr val="tx2"/>
                </a:solidFill>
              </a:rPr>
              <a:t>(mon dessin sur iPad)</a:t>
            </a:r>
            <a:endParaRPr lang="tr-TR" sz="9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subTitle" idx="1"/>
          </p:nvPr>
        </p:nvSpPr>
        <p:spPr>
          <a:xfrm>
            <a:off x="529197" y="1439637"/>
            <a:ext cx="3769113" cy="2604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>
                <a:latin typeface="Albert Sans" panose="020B0604020202020204" charset="0"/>
              </a:rPr>
              <a:t>Le </a:t>
            </a:r>
            <a:r>
              <a:rPr lang="fr-FR" sz="1400" b="1" dirty="0">
                <a:latin typeface="Albert Sans" panose="020B0604020202020204" charset="0"/>
              </a:rPr>
              <a:t>processeur M1</a:t>
            </a:r>
            <a:r>
              <a:rPr lang="fr-FR" sz="1400" dirty="0">
                <a:latin typeface="Albert Sans" panose="020B0604020202020204" charset="0"/>
              </a:rPr>
              <a:t> d'Apple permet une gestion rapide des </a:t>
            </a:r>
            <a:r>
              <a:rPr lang="fr-FR" sz="1400" b="1" dirty="0">
                <a:latin typeface="Albert Sans" panose="020B0604020202020204" charset="0"/>
              </a:rPr>
              <a:t>couches</a:t>
            </a:r>
            <a:r>
              <a:rPr lang="fr-FR" sz="1400" dirty="0">
                <a:latin typeface="Albert Sans" panose="020B0604020202020204" charset="0"/>
              </a:rPr>
              <a:t>, de l’</a:t>
            </a:r>
            <a:r>
              <a:rPr lang="fr-FR" sz="1400" b="1" dirty="0">
                <a:latin typeface="Albert Sans" panose="020B0604020202020204" charset="0"/>
              </a:rPr>
              <a:t>intensité de la pression</a:t>
            </a:r>
            <a:r>
              <a:rPr lang="fr-FR" sz="1400" dirty="0">
                <a:latin typeface="Albert Sans" panose="020B0604020202020204" charset="0"/>
              </a:rPr>
              <a:t> et des </a:t>
            </a:r>
            <a:r>
              <a:rPr lang="fr-FR" sz="1400" b="1" dirty="0">
                <a:latin typeface="Albert Sans" panose="020B0604020202020204" charset="0"/>
              </a:rPr>
              <a:t>détails fins</a:t>
            </a:r>
            <a:r>
              <a:rPr lang="fr-FR" sz="1400" dirty="0">
                <a:latin typeface="Albert Sans" panose="020B0604020202020204" charset="0"/>
              </a:rPr>
              <a:t>, offrant une expérience de dessin très proche de celle d’un véritable crayon.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>
              <a:latin typeface="Albert Sans" panose="020B0604020202020204" charset="0"/>
            </a:endParaRPr>
          </a:p>
          <a:p>
            <a:pPr marL="0" indent="0"/>
            <a:r>
              <a:rPr lang="fr-FR" sz="1400" dirty="0">
                <a:latin typeface="Albert Sans" panose="020B0604020202020204" charset="0"/>
              </a:rPr>
              <a:t>D’autre part, l’</a:t>
            </a:r>
            <a:r>
              <a:rPr lang="fr-FR" sz="1400" b="1" dirty="0">
                <a:latin typeface="Albert Sans" panose="020B0604020202020204" charset="0"/>
              </a:rPr>
              <a:t>écran </a:t>
            </a:r>
            <a:r>
              <a:rPr lang="fr-FR" sz="1400" b="1" dirty="0" err="1">
                <a:latin typeface="Albert Sans" panose="020B0604020202020204" charset="0"/>
              </a:rPr>
              <a:t>Retina</a:t>
            </a:r>
            <a:r>
              <a:rPr lang="fr-FR" sz="1400" dirty="0">
                <a:latin typeface="Albert Sans" panose="020B0604020202020204" charset="0"/>
              </a:rPr>
              <a:t> haute ou le </a:t>
            </a:r>
            <a:r>
              <a:rPr lang="fr-FR" sz="1400" b="1" dirty="0">
                <a:latin typeface="Albert Sans" panose="020B0604020202020204" charset="0"/>
              </a:rPr>
              <a:t>stylet Apple Pencil </a:t>
            </a:r>
            <a:r>
              <a:rPr lang="fr-FR" sz="1400" dirty="0">
                <a:latin typeface="Albert Sans" panose="020B0604020202020204" charset="0"/>
              </a:rPr>
              <a:t>permettent une expérience de dessin extrêmement réactive grâce à des algorithmes avancés qui gèrent la pression et l'inclinaison.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" name="Google Shape;250;p41"/>
          <p:cNvSpPr txBox="1">
            <a:spLocks noGrp="1"/>
          </p:cNvSpPr>
          <p:nvPr>
            <p:ph type="title"/>
          </p:nvPr>
        </p:nvSpPr>
        <p:spPr>
          <a:xfrm>
            <a:off x="254134" y="268384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dirty="0"/>
              <a:t>Technologie derrière</a:t>
            </a:r>
            <a:br>
              <a:rPr lang="fr-FR" b="1" dirty="0"/>
            </a:br>
            <a:r>
              <a:rPr lang="fr-FR" b="1" dirty="0"/>
              <a:t> les tablettes</a:t>
            </a:r>
            <a:r>
              <a:rPr lang="fr-FR" dirty="0"/>
              <a:t> </a:t>
            </a:r>
            <a:endParaRPr dirty="0"/>
          </a:p>
        </p:txBody>
      </p:sp>
      <p:pic>
        <p:nvPicPr>
          <p:cNvPr id="4098" name="Picture 2" descr="Analyse marketing : le marché aux puces... M1 d'Apple - Ciliabule">
            <a:extLst>
              <a:ext uri="{FF2B5EF4-FFF2-40B4-BE49-F238E27FC236}">
                <a16:creationId xmlns:a16="http://schemas.microsoft.com/office/drawing/2014/main" id="{D7400528-CF96-F17A-F7E8-54A8D76A3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78141"/>
            <a:ext cx="4243943" cy="238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>
            <a:spLocks noGrp="1"/>
          </p:cNvSpPr>
          <p:nvPr>
            <p:ph type="title"/>
          </p:nvPr>
        </p:nvSpPr>
        <p:spPr>
          <a:xfrm>
            <a:off x="350930" y="373756"/>
            <a:ext cx="38568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dirty="0"/>
              <a:t>Développement des applications de dessin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257" name="Google Shape;257;p42"/>
          <p:cNvSpPr txBox="1">
            <a:spLocks noGrp="1"/>
          </p:cNvSpPr>
          <p:nvPr>
            <p:ph type="body" idx="1"/>
          </p:nvPr>
        </p:nvSpPr>
        <p:spPr>
          <a:xfrm>
            <a:off x="477310" y="2052158"/>
            <a:ext cx="3856800" cy="1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13359" algn="l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tr-TR" dirty="0" err="1"/>
              <a:t>Procreate</a:t>
            </a:r>
            <a:endParaRPr lang="fr-FR" dirty="0"/>
          </a:p>
          <a:p>
            <a:pPr marL="274320" lvl="0" indent="-213359" algn="l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tr-TR" dirty="0"/>
              <a:t>Photoshop</a:t>
            </a:r>
            <a:endParaRPr lang="fr-FR" dirty="0"/>
          </a:p>
          <a:p>
            <a:pPr marL="274320" lvl="0" indent="-213359" algn="l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fr-FR" dirty="0"/>
              <a:t>Paint Tool Sai</a:t>
            </a:r>
          </a:p>
          <a:p>
            <a:pPr marL="60961" lvl="0" indent="0" algn="l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</a:pPr>
            <a:r>
              <a:rPr lang="fr-FR" dirty="0"/>
              <a:t>Chaque dessin réalisé sur une tablette repose sur des </a:t>
            </a:r>
            <a:r>
              <a:rPr lang="fr-FR" b="1" dirty="0"/>
              <a:t>algorithmes</a:t>
            </a:r>
            <a:r>
              <a:rPr lang="fr-FR" dirty="0"/>
              <a:t> bien pensés et une parfaite </a:t>
            </a:r>
            <a:r>
              <a:rPr lang="fr-FR" b="1" dirty="0"/>
              <a:t>intégration matérielle</a:t>
            </a:r>
            <a:r>
              <a:rPr lang="fr-FR" dirty="0"/>
              <a:t> et logicielle.</a:t>
            </a:r>
            <a:endParaRPr dirty="0"/>
          </a:p>
        </p:txBody>
      </p:sp>
      <p:pic>
        <p:nvPicPr>
          <p:cNvPr id="4" name="Espace réservé pour une image  3">
            <a:extLst>
              <a:ext uri="{FF2B5EF4-FFF2-40B4-BE49-F238E27FC236}">
                <a16:creationId xmlns:a16="http://schemas.microsoft.com/office/drawing/2014/main" id="{0D04B9DD-14F2-24CD-3319-36ED29EF989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3475" r="3475"/>
          <a:stretch>
            <a:fillRect/>
          </a:stretch>
        </p:blipFill>
        <p:spPr>
          <a:xfrm>
            <a:off x="7102591" y="395034"/>
            <a:ext cx="1790613" cy="174890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8829F4F-D6C1-39A7-E55F-B745265BB3FE}"/>
              </a:ext>
            </a:extLst>
          </p:cNvPr>
          <p:cNvSpPr txBox="1"/>
          <p:nvPr/>
        </p:nvSpPr>
        <p:spPr>
          <a:xfrm>
            <a:off x="350930" y="1590493"/>
            <a:ext cx="4228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tx1"/>
                </a:solidFill>
                <a:latin typeface="Albert Sans" panose="020B0604020202020204" charset="0"/>
              </a:rPr>
              <a:t>Des applications sur tablette ont révolutionné le monde du dessin numérique, comme par exemple : </a:t>
            </a:r>
            <a:endParaRPr lang="tr-TR" sz="1200" dirty="0">
              <a:solidFill>
                <a:schemeClr val="tx1"/>
              </a:solidFill>
              <a:latin typeface="Albert Sans" panose="020B0604020202020204" charset="0"/>
            </a:endParaRPr>
          </a:p>
        </p:txBody>
      </p:sp>
      <p:pic>
        <p:nvPicPr>
          <p:cNvPr id="3080" name="Picture 8" descr="Elle contient : Procreate Ipad Tutorials, Free Procreate, Ipad Tutorials, Procreate Brushes Free, Paint Brush Art, Iphone Wallpaper Kawaii, Digital Art Beginner, Procreate Ipad, Free Brush">
            <a:extLst>
              <a:ext uri="{FF2B5EF4-FFF2-40B4-BE49-F238E27FC236}">
                <a16:creationId xmlns:a16="http://schemas.microsoft.com/office/drawing/2014/main" id="{514CE424-88AA-4B9E-A5C8-ED42BC020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4110" y="2052158"/>
            <a:ext cx="3731939" cy="279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xfrm>
            <a:off x="202144" y="18804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dirty="0"/>
              <a:t>Impact sur l’innovation et le marché</a:t>
            </a:r>
            <a:r>
              <a:rPr lang="fr-FR" dirty="0"/>
              <a:t> 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6D0A518-C884-6BEF-E0C4-3F0903EAAC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175" b="15670"/>
          <a:stretch/>
        </p:blipFill>
        <p:spPr>
          <a:xfrm>
            <a:off x="4433945" y="1366784"/>
            <a:ext cx="4255649" cy="2304410"/>
          </a:xfrm>
          <a:prstGeom prst="rect">
            <a:avLst/>
          </a:prstGeom>
        </p:spPr>
      </p:pic>
      <p:sp>
        <p:nvSpPr>
          <p:cNvPr id="4" name="AutoShape 2" descr="Drawing Tablet and Graphics Tablets Market">
            <a:extLst>
              <a:ext uri="{FF2B5EF4-FFF2-40B4-BE49-F238E27FC236}">
                <a16:creationId xmlns:a16="http://schemas.microsoft.com/office/drawing/2014/main" id="{8D66F32C-549E-1073-9061-0FDACC870D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47450" cy="34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r-T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BA40D22-6E1E-31D7-B7BD-C7C87C866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98" y="1366784"/>
            <a:ext cx="4008855" cy="230441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47DB866-1E00-D7E3-CF8F-943975AF4204}"/>
              </a:ext>
            </a:extLst>
          </p:cNvPr>
          <p:cNvSpPr txBox="1"/>
          <p:nvPr/>
        </p:nvSpPr>
        <p:spPr>
          <a:xfrm>
            <a:off x="316871" y="3701972"/>
            <a:ext cx="3162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 : Business Research Insights, "Drawing Tablet and Graphics Tablets Market,“ </a:t>
            </a:r>
            <a:r>
              <a:rPr lang="tr-TR" sz="800" u="sng" dirty="0"/>
              <a:t>businessresearchinsights.com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EE898DD-993F-34ED-EF10-F989769DEED7}"/>
              </a:ext>
            </a:extLst>
          </p:cNvPr>
          <p:cNvSpPr txBox="1"/>
          <p:nvPr/>
        </p:nvSpPr>
        <p:spPr>
          <a:xfrm>
            <a:off x="4515321" y="3732899"/>
            <a:ext cx="4174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Source : </a:t>
            </a:r>
            <a:r>
              <a:rPr lang="fr-FR" sz="900" dirty="0" err="1"/>
              <a:t>Statista</a:t>
            </a:r>
            <a:r>
              <a:rPr lang="fr-FR" sz="900" dirty="0"/>
              <a:t>, "Proportion de foyers équipés d'une tablette en France", </a:t>
            </a:r>
            <a:r>
              <a:rPr lang="fr-FR" sz="900" dirty="0">
                <a:hlinkClick r:id="rId5"/>
              </a:rPr>
              <a:t>statista.com</a:t>
            </a:r>
            <a:endParaRPr lang="tr-TR" sz="900" dirty="0"/>
          </a:p>
        </p:txBody>
      </p:sp>
    </p:spTree>
  </p:cSld>
  <p:clrMapOvr>
    <a:masterClrMapping/>
  </p:clrMapOvr>
  <p:transition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>
            <a:spLocks noGrp="1"/>
          </p:cNvSpPr>
          <p:nvPr>
            <p:ph type="title"/>
          </p:nvPr>
        </p:nvSpPr>
        <p:spPr>
          <a:xfrm>
            <a:off x="291303" y="349147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/>
              <a:t>Conclusion</a:t>
            </a:r>
            <a:r>
              <a:rPr lang="tr-TR" dirty="0"/>
              <a:t> :</a:t>
            </a:r>
            <a:endParaRPr dirty="0"/>
          </a:p>
        </p:txBody>
      </p:sp>
      <p:sp>
        <p:nvSpPr>
          <p:cNvPr id="282" name="Google Shape;282;p44"/>
          <p:cNvSpPr txBox="1">
            <a:spLocks noGrp="1"/>
          </p:cNvSpPr>
          <p:nvPr>
            <p:ph type="subTitle" idx="4294967295"/>
          </p:nvPr>
        </p:nvSpPr>
        <p:spPr>
          <a:xfrm>
            <a:off x="611021" y="1327552"/>
            <a:ext cx="5960763" cy="233748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fr-FR" dirty="0"/>
              <a:t>En conclusion, même si les iPads et autres tablettes de dessin sont perçus comme des outils créatifs, ils sont en réalité le fruit de </a:t>
            </a:r>
            <a:r>
              <a:rPr lang="fr-FR" b="1" dirty="0"/>
              <a:t>technologies de pointe</a:t>
            </a:r>
            <a:r>
              <a:rPr lang="fr-FR" dirty="0"/>
              <a:t> qui font appel à des connaissances en </a:t>
            </a:r>
            <a:r>
              <a:rPr lang="fr-FR" b="1" dirty="0"/>
              <a:t>informatique</a:t>
            </a:r>
            <a:r>
              <a:rPr lang="fr-FR" dirty="0"/>
              <a:t> et en </a:t>
            </a:r>
            <a:r>
              <a:rPr lang="fr-FR" b="1" dirty="0"/>
              <a:t>développement logiciel</a:t>
            </a:r>
            <a:r>
              <a:rPr lang="fr-FR" dirty="0"/>
              <a:t>. Que ce soit dans la conception des </a:t>
            </a:r>
            <a:r>
              <a:rPr lang="fr-FR" b="1" dirty="0"/>
              <a:t>applications</a:t>
            </a:r>
            <a:r>
              <a:rPr lang="fr-FR" dirty="0"/>
              <a:t> de dessin ou dans l'optimisation des performances du matériel, les défis sont nombreux. </a:t>
            </a:r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endParaRPr lang="fr-FR" dirty="0"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endParaRPr lang="fr-FR" dirty="0"/>
          </a:p>
          <a:p>
            <a:pPr marL="274320" lvl="0" indent="-213359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</a:pPr>
            <a:r>
              <a:rPr lang="fr-FR" dirty="0"/>
              <a:t>En tant qu’étudiante en </a:t>
            </a:r>
            <a:r>
              <a:rPr lang="fr-FR" b="1" dirty="0"/>
              <a:t>BTS SIO</a:t>
            </a:r>
            <a:r>
              <a:rPr lang="fr-FR" dirty="0"/>
              <a:t>, cela montre bien que l’informatique est omniprésente dans tous les domaines, même dans ceux qui semblent éloignés des considérations techniques. Et c’est justement ce qui rend ce domaine à la fois passionnant et stimulant.</a:t>
            </a:r>
            <a:endParaRPr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BC6430D-C949-E20A-3BBC-68FD4CE58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127" y="2914444"/>
            <a:ext cx="2174660" cy="1879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096C5A4-8097-FFFB-D896-BC30A3B2B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704" y="3613253"/>
            <a:ext cx="1274712" cy="1181100"/>
          </a:xfrm>
          <a:prstGeom prst="rect">
            <a:avLst/>
          </a:prstGeom>
        </p:spPr>
      </p:pic>
      <p:pic>
        <p:nvPicPr>
          <p:cNvPr id="7172" name="Picture 4" descr="Image d’Épingle Story">
            <a:extLst>
              <a:ext uri="{FF2B5EF4-FFF2-40B4-BE49-F238E27FC236}">
                <a16:creationId xmlns:a16="http://schemas.microsoft.com/office/drawing/2014/main" id="{01391AD2-7134-329A-25E6-8B950A802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693" y="779656"/>
            <a:ext cx="1792094" cy="179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9"/>
          <p:cNvSpPr txBox="1">
            <a:spLocks noGrp="1"/>
          </p:cNvSpPr>
          <p:nvPr>
            <p:ph type="ctrTitle"/>
          </p:nvPr>
        </p:nvSpPr>
        <p:spPr>
          <a:xfrm>
            <a:off x="618456" y="3429755"/>
            <a:ext cx="3879202" cy="11564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Merci </a:t>
            </a:r>
            <a:r>
              <a:rPr lang="en" sz="5400" dirty="0">
                <a:sym typeface="Wingdings" panose="05000000000000000000" pitchFamily="2" charset="2"/>
              </a:rPr>
              <a:t></a:t>
            </a:r>
            <a:endParaRPr sz="5400" dirty="0"/>
          </a:p>
        </p:txBody>
      </p:sp>
      <p:sp>
        <p:nvSpPr>
          <p:cNvPr id="643" name="Google Shape;643;p69"/>
          <p:cNvSpPr txBox="1"/>
          <p:nvPr/>
        </p:nvSpPr>
        <p:spPr>
          <a:xfrm>
            <a:off x="4571932" y="2873525"/>
            <a:ext cx="2683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Please keep this slide for attribution</a:t>
            </a:r>
            <a:endParaRPr sz="9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652" name="Google Shape;652;p6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0C8CBF9A-6B49-2D26-E436-914DF694C534}"/>
              </a:ext>
            </a:extLst>
          </p:cNvPr>
          <p:cNvSpPr txBox="1"/>
          <p:nvPr/>
        </p:nvSpPr>
        <p:spPr>
          <a:xfrm>
            <a:off x="1198400" y="1129498"/>
            <a:ext cx="40367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tr-TR" sz="1000" dirty="0">
                <a:hlinkClick r:id="rId3"/>
              </a:rPr>
              <a:t>https://feedly.com/i/discover/sources/search/feed/ipad%20news</a:t>
            </a:r>
            <a:endParaRPr lang="fr-FR" sz="1000" dirty="0"/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fr-FR" sz="1000" dirty="0"/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tr-TR" sz="1000" u="sng" dirty="0"/>
              <a:t>https://www.riskinsight-wavestone.com/2011/02/ipad-une-revolution-ergonomique-une-inspiration-pour-le-marketing-digital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B2A32E7-2FF6-06E1-FECA-0DFB49819C7D}"/>
              </a:ext>
            </a:extLst>
          </p:cNvPr>
          <p:cNvSpPr txBox="1"/>
          <p:nvPr/>
        </p:nvSpPr>
        <p:spPr>
          <a:xfrm>
            <a:off x="1198400" y="1882743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tr-TR" sz="1000" u="sng" dirty="0"/>
              <a:t>https://www.google.fr/alerts#1:0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922F6E7-2426-6323-2DD9-C0F5493FF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318" y="2295393"/>
            <a:ext cx="2584595" cy="252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43D5B7B-092D-F248-C922-97925B94AB5C}"/>
              </a:ext>
            </a:extLst>
          </p:cNvPr>
          <p:cNvSpPr txBox="1"/>
          <p:nvPr/>
        </p:nvSpPr>
        <p:spPr>
          <a:xfrm>
            <a:off x="1317347" y="778780"/>
            <a:ext cx="959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Sources</a:t>
            </a:r>
            <a:endParaRPr lang="tr-TR" i="1" dirty="0"/>
          </a:p>
        </p:txBody>
      </p:sp>
      <p:pic>
        <p:nvPicPr>
          <p:cNvPr id="6150" name="Picture 6" descr="Image d’Épingle Story">
            <a:extLst>
              <a:ext uri="{FF2B5EF4-FFF2-40B4-BE49-F238E27FC236}">
                <a16:creationId xmlns:a16="http://schemas.microsoft.com/office/drawing/2014/main" id="{4C4968BA-1A3E-25F0-3739-586331B1CA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3"/>
          <a:stretch/>
        </p:blipFill>
        <p:spPr bwMode="auto">
          <a:xfrm>
            <a:off x="6560603" y="542693"/>
            <a:ext cx="2315762" cy="224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540</Words>
  <Application>Microsoft Office PowerPoint</Application>
  <PresentationFormat>Affichage à l'écran (16:9)</PresentationFormat>
  <Paragraphs>56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Alexandria Medium</vt:lpstr>
      <vt:lpstr>Wingdings</vt:lpstr>
      <vt:lpstr>Arial</vt:lpstr>
      <vt:lpstr>Albert Sans</vt:lpstr>
      <vt:lpstr>Lead Funnel by Slidesgo</vt:lpstr>
      <vt:lpstr>Les tablettes de dessin numériques </vt:lpstr>
      <vt:lpstr>01</vt:lpstr>
      <vt:lpstr>Introduction</vt:lpstr>
      <vt:lpstr>Tablettes numériques :  Focus sur les iPads et  leur évolution technologique  </vt:lpstr>
      <vt:lpstr>Les tablettes de dessin </vt:lpstr>
      <vt:lpstr>Technologie derrière  les tablettes </vt:lpstr>
      <vt:lpstr>Développement des applications de dessin </vt:lpstr>
      <vt:lpstr>Impact sur l’innovation et le marché </vt:lpstr>
      <vt:lpstr>Conclusion :</vt:lpstr>
      <vt:lpstr>Merci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betty uwu</dc:creator>
  <cp:lastModifiedBy>Siline Elyssa</cp:lastModifiedBy>
  <cp:revision>62</cp:revision>
  <dcterms:modified xsi:type="dcterms:W3CDTF">2025-03-03T20:11:51Z</dcterms:modified>
</cp:coreProperties>
</file>